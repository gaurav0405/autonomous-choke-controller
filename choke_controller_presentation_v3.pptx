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88952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b="1" sz="2600">
                <a:solidFill>
                  <a:srgbClr val="1D4ED8"/>
                </a:solidFill>
                <a:latin typeface="Arial"/>
              </a:defRPr>
            </a:pPr>
            <a:r>
              <a:t>AUTONOMOUS CHOKE CONTROLLER FOR AN OIL 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Problem Statement ID: SIH1747</a:t>
            </a:r>
            <a:endParaRPr lang="en-US" dirty="0"/>
          </a:p>
          <a:p>
            <a:pPr>
              <a:spcAft>
                <a:spcPts val="600"/>
              </a:spcAft>
              <a:defRPr b="1" sz="1600">
                <a:latin typeface="Arial"/>
              </a:defRPr>
            </a:pPr>
            <a:r>
              <a:t>Problem Statement Title: Autonomous Choke Control for a Single Naturally Flowing Oil Well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Theme: Smart Automation &amp; Energy Systems</a:t>
            </a:r>
          </a:p>
          <a:p>
            <a:pPr>
              <a:spcAft>
                <a:spcPts val="1400"/>
              </a:spcAft>
              <a:defRPr sz="1600">
                <a:latin typeface="Arial"/>
              </a:defRPr>
            </a:pPr>
            <a:r>
              <a:t>PS Category: Software / Algorithm</a:t>
            </a:r>
          </a:p>
          <a:p>
            <a:pPr>
              <a:spcAft>
                <a:spcPts val="600"/>
              </a:spcAft>
              <a:defRPr b="1" sz="1600">
                <a:latin typeface="Arial"/>
              </a:defRPr>
            </a:pPr>
            <a:r>
              <a:t>Student Name: Gaurav Jain (Registered on portal)</a:t>
            </a:r>
          </a:p>
          <a:p>
            <a:pPr>
              <a:defRPr b="1" sz="1600">
                <a:latin typeface="Arial"/>
              </a:defRPr>
            </a:pPr>
            <a:r>
              <a:t>Student ID: 23BAI10053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AI-Driven Autonomous Choke Controller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Autonomous Production Choke Controller: Regulates choke opening (%) to track target production rates while enforcing all operating envelope boundaries.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Operating Envelope Constraints: Prevents violations of Wellhead Pressure (WHP &gt;= 220 psi), Flowline Pressure (FLP &gt;= 150 psi), and Bottom Hole Pressure (BHP &gt;= 2900 psi).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Candidate Trajectory Evaluation: Implements Model Predictive Control (MPC) by evaluating 101 candidate choke movements at each 1-hour step.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Rejection Diagnostics: Antigravity MPC logs exact candidate safety breakdowns (e.g. 'Evaluated: 101 | Safe: 51 | Rejected: 50') with physical rejection reasons.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Safe Boundary Settlement: Automatically settles on the safe operating envelope boundary during infeasible setpoint targets (e.g. Target C = 200 bbl/hr -&gt; 151.7 bbl/hr).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open_loop_ste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1700" b="1">
                <a:solidFill>
                  <a:srgbClr val="1E293B"/>
                </a:solidFill>
                <a:latin typeface="Arial"/>
              </a:defRPr>
            </a:pPr>
            <a:r>
              <a:t>ARX Dynamic Modeling &amp; Cost Formulation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System Identification (ARX Models): Identifies first-order dynamic model gains and time constants from open-loop step test data: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Oil Rate (Q): Gain = +1.82 bbl/hr/% | Time Constant tau = 5.2h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Wellhead Pres (WHP): Gain = -1.59 psi/% | Time Constant tau = 8.5h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Flowline Pres (FLP): Gain = -0.99 psi/% | Time Constant tau = 6.8h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Bottom Hole Pres (BHP): Gain = -8.38 psi/% | Time Constant tau = 13.0h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Ramp Rate Enforcement: Enforces maximum valve movement limit of +/- 5% choke opening per hour across prediction horizon (Hp = 30h).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Multi-Objective Optimization: Minimizes tracking error while penalizing constraint violations by a factor of 1e6 and penalizing valve wear (lambda = 0.5).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scenario_a_st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 b="1">
                <a:solidFill>
                  <a:srgbClr val="1E293B"/>
                </a:solidFill>
                <a:latin typeface="Arial"/>
              </a:defRPr>
            </a:pPr>
            <a:r>
              <a:t>Safety Envelope &amp; Training Simulator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Edge Computational Efficiency: Candidate trajectory search executes in &lt; 2 ms in Python and JavaScript on edge microcontrollers or DCS.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3-State Industrial Alarm Annunciator: Visual 3-state alert panel indicating Normal (🟢), Constraint Active (🟠), and Envelope Violation (🔴).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Process Noise Resilience: Handles Gaussian noise (Q_sigma = 0.73, BHP_sigma = 2.91) while strictly maintaining safety envelope margins.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Interactive Training Simulator: Supports Autonomous MPC vs Manual Operator Override modes and real-time field disturbance injection (Reservoir Depletion -100 psi BHP, Line Blockage +30 psi FLP).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b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1280160"/>
            <a:ext cx="530352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1E293B"/>
                </a:solidFill>
                <a:latin typeface="Arial"/>
              </a:defRPr>
            </a:pPr>
            <a:r>
              <a:t>Control Scenarios &amp; Web Dashboard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t>• Scenario A (Startup): Ramps choke smoothly at max 5%/hr to reach 120 bbl/hr target with zero violations.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t>• Scenario B (Tracking): Tracks target step to 150 bbl/hr. Settled choke = 60.9%, flow = 150.0 bbl/hr, BHP = 2931 psi.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t>• Scenario C (Infeasible Target = 200 bbl/hr): Automatically caps choke opening at 61.9% to maintain BHP &gt;= 2900 psi limit, achieving maximum safe production of 151.7 bbl/hr.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t>• Interactive Web Dashboard: Features a true black UI, animated SVG subsurface well schematic with rising oil bubbles, live Chart.js trends, real-time decision console, and simulation summary analytics.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t>• Operational Deliverables: Complete Python control code, offline Chart.js web dashboard, presentation deck, and CSV output data.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c_infeas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577840" cy="2377440"/>
          </a:xfrm>
          <a:prstGeom prst="rect">
            <a:avLst/>
          </a:prstGeom>
        </p:spPr>
      </p:pic>
      <p:pic>
        <p:nvPicPr>
          <p:cNvPr id="17412" name="Picture 17411" descr="dashboard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657600"/>
            <a:ext cx="557784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109728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Academic &amp; Industrial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[1] Camacho, E. F. and Alba, C. B. 'Model Predictive Control', 2nd Edition, Springer-Verlag, 2013.</a:t>
            </a:r>
            <a:br/>
            <a:r>
              <a:t>    URL: https://link.springer.com/book/10.1007/978-3-642-18189-4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[2] Economides, M. J., Hill, A. D. and Ehlig-Economides, C. 'Petroleum Production Systems', Prentice Hall, 2012.</a:t>
            </a:r>
            <a:br/>
            <a:r>
              <a:t>    URL: https://www.pearson.com/en-us/subject-catalog/p/petroleum-production-systems/P200000003290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[3] Golan, M. and Whitson, C. H. 'Well Performance', 2nd Edition, Prentice Hall, 1991.</a:t>
            </a:r>
            <a:br/>
            <a:r>
              <a:t>    URL: https://www.onepetro.org/books/SPE/Well-Performance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[4] Foss, B., Grimstad, B., Shakerian, M. and Sureshkumar, K. 'Control structure design for oil fields - a case study', Journal of Process Control, Vol. 68, pp. 112-124, 2018.</a:t>
            </a:r>
            <a:br/>
            <a:r>
              <a:t>    URL: https://doi.org/10.1016/j.jprocont.2018.05.006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[5] Shinskey, F. G. 'Process Control Systems: Application, Design, and Adjustment', McGraw-Hill, 1996.</a:t>
            </a:r>
            <a:br/>
            <a:r>
              <a:t>    URL: https://www.accessengineeringlibrary.com/content/book/9780070571013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