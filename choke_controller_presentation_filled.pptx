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8" r:id="rId3"/>
    <p:sldId id="281" r:id="rId4"/>
    <p:sldId id="290" r:id="rId5"/>
    <p:sldId id="293" r:id="rId6"/>
    <p:sldId id="299" r:id="rId7"/>
    <p:sldId id="296" r:id="rId8"/>
  </p:sldIdLst>
  <p:sldSz cx="12188952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876" y="10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7/24/2026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9F277-D966-5891-8E8E-FE1852E6B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63166A99-EAE2-2E28-993F-D5871297B2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4ED88F3D-7791-59C8-716F-0AAD4C669A9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CC82298B-112C-33CB-5F98-D6F1C4A4C6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30513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7/24/2026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7CE727-C45C-A6F5-9EE5-AF363B2ADA27}"/>
              </a:ext>
            </a:extLst>
          </p:cNvPr>
          <p:cNvSpPr txBox="1"/>
          <p:nvPr/>
        </p:nvSpPr>
        <p:spPr>
          <a:xfrm>
            <a:off x="602343" y="1714078"/>
            <a:ext cx="10397765" cy="4073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title slide) 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lang="en-US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portal.</a:t>
            </a:r>
            <a:endParaRPr lang="en-US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lang="en-US"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A033A5-F70E-7E73-0B8C-FA62C08DE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99EC04-BCF1-5A69-7D5A-95D43C976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Subtitle 3">
            <a:extLst>
              <a:ext uri="{FF2B5EF4-FFF2-40B4-BE49-F238E27FC236}">
                <a16:creationId xmlns:a16="http://schemas.microsoft.com/office/drawing/2014/main" id="{E0A8E5C6-6BFC-01E5-DDF5-B6A7738A64F4}"/>
              </a:ext>
            </a:extLst>
          </p:cNvPr>
          <p:cNvSpPr txBox="1">
            <a:spLocks/>
          </p:cNvSpPr>
          <p:nvPr/>
        </p:nvSpPr>
        <p:spPr bwMode="auto">
          <a:xfrm>
            <a:off x="1415369" y="-365784"/>
            <a:ext cx="85344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marL="4572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2pPr>
            <a:lvl3pPr marL="9144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3pPr>
            <a:lvl4pPr marL="13716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4pPr>
            <a:lvl5pPr marL="18288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b="1" sz="2600">
                <a:solidFill>
                  <a:srgbClr val="1D4ED8"/>
                </a:solidFill>
                <a:latin typeface="Arial"/>
              </a:defRPr>
            </a:pPr>
            <a:r>
              <a:t>AUTONOMOUS CHOKE CONTROLLER FOR AN OIL WELL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B1BDE7-2DA0-F526-CF6E-F50D43C2C5FE}"/>
              </a:ext>
            </a:extLst>
          </p:cNvPr>
          <p:cNvSpPr txBox="1"/>
          <p:nvPr/>
        </p:nvSpPr>
        <p:spPr>
          <a:xfrm>
            <a:off x="397274" y="1203454"/>
            <a:ext cx="5924550" cy="4686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  <a:defRPr sz="1600">
                <a:latin typeface="Arial"/>
              </a:defRPr>
            </a:pPr>
            <a:r>
              <a:t>Problem Statement ID: SIH1747</a:t>
            </a:r>
            <a:endParaRPr lang="en-US" dirty="0"/>
          </a:p>
          <a:p>
            <a:pPr>
              <a:spcAft>
                <a:spcPts val="600"/>
              </a:spcAft>
              <a:defRPr b="1" sz="1600">
                <a:latin typeface="Arial"/>
              </a:defRPr>
            </a:pPr>
            <a:r>
              <a:t>Problem Statement Title: Autonomous Choke Control for a Single Naturally Flowing Oil Well</a:t>
            </a:r>
          </a:p>
          <a:p>
            <a:pPr>
              <a:spcAft>
                <a:spcPts val="600"/>
              </a:spcAft>
              <a:defRPr sz="1600">
                <a:latin typeface="Arial"/>
              </a:defRPr>
            </a:pPr>
            <a:r>
              <a:t>Theme: Smart Automation &amp; Energy Systems</a:t>
            </a:r>
          </a:p>
          <a:p>
            <a:pPr>
              <a:spcAft>
                <a:spcPts val="1400"/>
              </a:spcAft>
              <a:defRPr sz="1600">
                <a:latin typeface="Arial"/>
              </a:defRPr>
            </a:pPr>
            <a:r>
              <a:t>PS Category: Software / Algorithm</a:t>
            </a:r>
          </a:p>
          <a:p>
            <a:pPr>
              <a:spcAft>
                <a:spcPts val="600"/>
              </a:spcAft>
              <a:defRPr b="1" sz="1600">
                <a:latin typeface="Arial"/>
              </a:defRPr>
            </a:pPr>
            <a:r>
              <a:t>Student Name: Gaurav Jain (Registered on portal)</a:t>
            </a:r>
          </a:p>
          <a:p>
            <a:pPr>
              <a:defRPr b="1" sz="1600">
                <a:latin typeface="Arial"/>
              </a:defRPr>
            </a:pPr>
            <a:r>
              <a:t>Student ID: 23BAI10053</a:t>
            </a:r>
          </a:p>
        </p:txBody>
      </p:sp>
    </p:spTree>
    <p:extLst>
      <p:ext uri="{BB962C8B-B14F-4D97-AF65-F5344CB8AC3E}">
        <p14:creationId xmlns:p14="http://schemas.microsoft.com/office/powerpoint/2010/main" val="3319884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r>
              <a:t>PROPOSED SOLUTION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612648" y="1371600"/>
            <a:ext cx="5303520" cy="4754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E293B"/>
                </a:solidFill>
                <a:latin typeface="Arial"/>
              </a:defRPr>
            </a:pPr>
            <a:r>
              <a:t>AI-Driven Autonomous Choke Controller</a:t>
            </a:r>
            <a:endParaRPr lang="en-US" sz="3200" u="sng" dirty="0">
              <a:latin typeface="Arial" pitchFamily="34" charset="0"/>
              <a:cs typeface="Arial" pitchFamily="34" charset="0"/>
            </a:endParaRPr>
          </a:p>
          <a:p>
            <a:pPr>
              <a:spcAft>
                <a:spcPts val="300"/>
              </a:spcAft>
              <a:defRPr sz="1100">
                <a:latin typeface="Arial"/>
              </a:defRPr>
            </a:pPr>
            <a:r>
              <a:t>• Autonomous Production Choke Controller: Regulates choke opening (%) to track target production rates while enforcing all operating envelope boundaries.</a:t>
            </a:r>
          </a:p>
          <a:p>
            <a:pPr>
              <a:spcAft>
                <a:spcPts val="300"/>
              </a:spcAft>
              <a:defRPr sz="1100">
                <a:latin typeface="Arial"/>
              </a:defRPr>
            </a:pPr>
            <a:r>
              <a:t>• Operating Envelope Constraints: Prevents violations of Wellhead Pressure (WHP &gt;= 220 psi), Flowline Pressure (FLP &gt;= 150 psi), and Bottom Hole Pressure (BHP &gt;= 2900 psi).</a:t>
            </a:r>
          </a:p>
          <a:p>
            <a:pPr>
              <a:spcAft>
                <a:spcPts val="300"/>
              </a:spcAft>
              <a:defRPr sz="1100">
                <a:latin typeface="Arial"/>
              </a:defRPr>
            </a:pPr>
            <a:r>
              <a:t>• Candidate Trajectory Evaluation: Implements Model Predictive Control (MPC) by evaluating 101 candidate choke movements at each 1-hour step.</a:t>
            </a:r>
          </a:p>
          <a:p>
            <a:pPr>
              <a:spcAft>
                <a:spcPts val="300"/>
              </a:spcAft>
              <a:defRPr sz="1100">
                <a:latin typeface="Arial"/>
              </a:defRPr>
            </a:pPr>
            <a:r>
              <a:t>• Rejection Diagnostics: Antigravity MPC logs exact candidate safety breakdowns (e.g. 'Evaluated: 101 | Safe: 51 | Rejected: 50') with physical rejection reasons.</a:t>
            </a:r>
          </a:p>
          <a:p>
            <a:pPr>
              <a:spcAft>
                <a:spcPts val="300"/>
              </a:spcAft>
              <a:defRPr sz="1100">
                <a:latin typeface="Arial"/>
              </a:defRPr>
            </a:pPr>
            <a:r>
              <a:t>• Safe Boundary Settlement: Automatically settles on the safe operating envelope boundary during infeasible setpoint targets (e.g. Target C = 200 bbl/hr -&gt; 151.7 bbl/hr).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5363" name="Picture 15362" descr="open_loop_step_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280160"/>
            <a:ext cx="5577840" cy="398417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12648" y="1371600"/>
            <a:ext cx="5303520" cy="4754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400"/>
              </a:spcAft>
              <a:buFont typeface="Arial" panose="020B0604020202020204" pitchFamily="34" charset="0"/>
              <a:buChar char="•"/>
              <a:defRPr sz="1700" b="1">
                <a:solidFill>
                  <a:srgbClr val="1E293B"/>
                </a:solidFill>
                <a:latin typeface="Arial"/>
              </a:defRPr>
            </a:pPr>
            <a:r>
              <a:t>ARX Dynamic Modeling &amp; Cost Formulation</a:t>
            </a:r>
          </a:p>
          <a:p>
            <a:pPr>
              <a:spcAft>
                <a:spcPts val="300"/>
              </a:spcAft>
              <a:defRPr sz="1100">
                <a:latin typeface="Arial"/>
              </a:defRPr>
            </a:pPr>
            <a:r>
              <a:t>• System Identification (ARX Models): Identifies first-order dynamic model gains and time constants from open-loop step test data:</a:t>
            </a:r>
          </a:p>
          <a:p>
            <a:pPr>
              <a:spcAft>
                <a:spcPts val="300"/>
              </a:spcAft>
              <a:defRPr sz="1100">
                <a:latin typeface="Arial"/>
              </a:defRPr>
            </a:pPr>
            <a:r>
              <a:t>  - Oil Rate (Q): Gain = +1.82 bbl/hr/% | Time Constant tau = 5.2h</a:t>
            </a:r>
          </a:p>
          <a:p>
            <a:pPr>
              <a:spcAft>
                <a:spcPts val="300"/>
              </a:spcAft>
              <a:defRPr sz="1100">
                <a:latin typeface="Arial"/>
              </a:defRPr>
            </a:pPr>
            <a:r>
              <a:t>  - Wellhead Pres (WHP): Gain = -1.59 psi/% | Time Constant tau = 8.5h</a:t>
            </a:r>
          </a:p>
          <a:p>
            <a:pPr>
              <a:spcAft>
                <a:spcPts val="300"/>
              </a:spcAft>
              <a:defRPr sz="1100">
                <a:latin typeface="Arial"/>
              </a:defRPr>
            </a:pPr>
            <a:r>
              <a:t>  - Flowline Pres (FLP): Gain = -0.99 psi/% | Time Constant tau = 6.8h</a:t>
            </a:r>
          </a:p>
          <a:p>
            <a:pPr>
              <a:spcAft>
                <a:spcPts val="300"/>
              </a:spcAft>
              <a:defRPr sz="1100">
                <a:latin typeface="Arial"/>
              </a:defRPr>
            </a:pPr>
            <a:r>
              <a:t>  - Bottom Hole Pres (BHP): Gain = -8.38 psi/% | Time Constant tau = 13.0h</a:t>
            </a:r>
          </a:p>
          <a:p>
            <a:pPr>
              <a:spcAft>
                <a:spcPts val="300"/>
              </a:spcAft>
              <a:defRPr sz="1100">
                <a:latin typeface="Arial"/>
              </a:defRPr>
            </a:pPr>
            <a:r>
              <a:t>• Ramp Rate Enforcement: Enforces maximum valve movement limit of +/- 5% choke opening per hour across prediction horizon (Hp = 30h).</a:t>
            </a:r>
          </a:p>
          <a:p>
            <a:pPr>
              <a:spcAft>
                <a:spcPts val="300"/>
              </a:spcAft>
              <a:defRPr sz="1100">
                <a:latin typeface="Arial"/>
              </a:defRPr>
            </a:pPr>
            <a:r>
              <a:t>• Multi-Objective Optimization: Minimizes tracking error while penalizing constraint violations by a factor of 1e6 and penalizing valve wear (lambda = 0.5).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4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7411" name="Picture 17410" descr="scenario_a_start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280160"/>
            <a:ext cx="5577840" cy="40904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12648" y="1371600"/>
            <a:ext cx="5303520" cy="4754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 sz="1700" b="1">
                <a:solidFill>
                  <a:srgbClr val="1E293B"/>
                </a:solidFill>
                <a:latin typeface="Arial"/>
              </a:defRPr>
            </a:pPr>
            <a:r>
              <a:t>Safety Envelope &amp; Training Simulator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Aft>
                <a:spcPts val="300"/>
              </a:spcAft>
              <a:defRPr sz="1100">
                <a:latin typeface="Arial"/>
              </a:defRPr>
            </a:pPr>
            <a:r>
              <a:t>• Edge Computational Efficiency: Candidate trajectory search executes in &lt; 2 ms in Python and JavaScript on edge microcontrollers or DCS.</a:t>
            </a:r>
          </a:p>
          <a:p>
            <a:pPr>
              <a:spcAft>
                <a:spcPts val="300"/>
              </a:spcAft>
              <a:defRPr sz="1100">
                <a:latin typeface="Arial"/>
              </a:defRPr>
            </a:pPr>
            <a:r>
              <a:t>• 3-State Industrial Alarm Annunciator: Visual 3-state alert panel indicating Normal (🟢), Constraint Active (🟠), and Envelope Violation (🔴).</a:t>
            </a:r>
          </a:p>
          <a:p>
            <a:pPr>
              <a:spcAft>
                <a:spcPts val="300"/>
              </a:spcAft>
              <a:defRPr sz="1100">
                <a:latin typeface="Arial"/>
              </a:defRPr>
            </a:pPr>
            <a:r>
              <a:t>• Process Noise Resilience: Handles Gaussian noise (Q_sigma = 0.73, BHP_sigma = 2.91) while strictly maintaining safety envelope margins.</a:t>
            </a:r>
          </a:p>
          <a:p>
            <a:pPr>
              <a:spcAft>
                <a:spcPts val="300"/>
              </a:spcAft>
              <a:defRPr sz="1100">
                <a:latin typeface="Arial"/>
              </a:defRPr>
            </a:pPr>
            <a:r>
              <a:t>• Interactive Training Simulator: Supports Autonomous MPC vs Manual Operator Override modes and real-time field disturbance injection (Reservoir Depletion -100 psi BHP, Line Blockage +30 psi FLP).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7411" name="Picture 17410" descr="scenario_b_track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280160"/>
            <a:ext cx="5577840" cy="4090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09052-50AE-B3C2-6A1C-5CFF37D94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5E03BF1A-7989-5C44-934B-D93E14918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ARTIFACTS</a:t>
            </a:r>
          </a:p>
        </p:txBody>
      </p:sp>
      <p:sp>
        <p:nvSpPr>
          <p:cNvPr id="17410" name="TextBox 8">
            <a:extLst>
              <a:ext uri="{FF2B5EF4-FFF2-40B4-BE49-F238E27FC236}">
                <a16:creationId xmlns:a16="http://schemas.microsoft.com/office/drawing/2014/main" id="{DD0C6F84-D6ED-416D-7179-055149D83F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648" y="1051560"/>
            <a:ext cx="109728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 sz="1500" b="1">
                <a:solidFill>
                  <a:srgbClr val="1E293B"/>
                </a:solidFill>
                <a:latin typeface="Arial"/>
              </a:defRPr>
            </a:pPr>
            <a:r>
              <a:t>Simulation Results &amp; Web Operator Dashboard</a:t>
            </a:r>
          </a:p>
          <a:p>
            <a:pPr>
              <a:spcAft>
                <a:spcPts val="300"/>
              </a:spcAft>
              <a:defRPr sz="1000">
                <a:latin typeface="Arial"/>
              </a:defRPr>
            </a:pPr>
            <a:r>
              <a:t>• Scenario C Infeasible Target Analysis: Requested Target = 200 bbl/hr. Controller caps choke at 61.9% to maintain BHP &gt;= 2900 psi limit, achieving max safe rate of 151.7 bbl/hr.</a:t>
            </a:r>
          </a:p>
          <a:p>
            <a:pPr>
              <a:spcAft>
                <a:spcPts val="300"/>
              </a:spcAft>
              <a:defRPr sz="1000">
                <a:latin typeface="Arial"/>
              </a:defRPr>
            </a:pPr>
            <a:r>
              <a:t>• Interactive Web Operator Dashboard: True black DCS UI with animated SVG wellhead, 3-state alarm annunciators, live Chart.js trendlines, and decision log terminal.</a:t>
            </a:r>
          </a:p>
          <a:p>
            <a:pPr>
              <a:spcAft>
                <a:spcPts val="300"/>
              </a:spcAft>
              <a:defRPr sz="1000">
                <a:latin typeface="Arial"/>
              </a:defRPr>
            </a:pPr>
            <a:r>
              <a:t>• Software &amp; Hardware Deliverables: Complete Python control code, offline Chart.js web app, presentation deck, and CSV output logs.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14AAA-63FC-5F17-FE74-5405495A1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C6332B-BBD9-799D-50C5-6A19BC85E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7411" name="Picture 17410" descr="dashboard_screenshot_format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2057400"/>
            <a:ext cx="5394960" cy="4206240"/>
          </a:xfrm>
          <a:prstGeom prst="rect">
            <a:avLst/>
          </a:prstGeom>
        </p:spPr>
      </p:pic>
      <p:pic>
        <p:nvPicPr>
          <p:cNvPr id="17412" name="Picture 17411" descr="scenario_c_infeasib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2057400"/>
            <a:ext cx="5394960" cy="4206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447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12648" y="1371600"/>
            <a:ext cx="10972800" cy="4754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 sz="1800" b="1">
                <a:solidFill>
                  <a:srgbClr val="1E293B"/>
                </a:solidFill>
                <a:latin typeface="Arial"/>
              </a:defRPr>
            </a:pPr>
            <a:r>
              <a:t>Academic &amp; Industrial References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Aft>
                <a:spcPts val="300"/>
              </a:spcAft>
              <a:defRPr sz="1050">
                <a:latin typeface="Arial"/>
              </a:defRPr>
            </a:pPr>
            <a:r>
              <a:t>[1] Camacho, E. F. and Alba, C. B. 'Model Predictive Control', 2nd Edition, Springer-Verlag, 2013.</a:t>
            </a:r>
            <a:br/>
            <a:r>
              <a:t>    URL: https://link.springer.com/book/10.1007/978-3-642-18189-4</a:t>
            </a:r>
          </a:p>
          <a:p>
            <a:pPr>
              <a:spcAft>
                <a:spcPts val="300"/>
              </a:spcAft>
              <a:defRPr sz="1050">
                <a:latin typeface="Arial"/>
              </a:defRPr>
            </a:pPr>
            <a:r>
              <a:t>[2] Economides, M. J., Hill, A. D. and Ehlig-Economides, C. 'Petroleum Production Systems', Prentice Hall, 2012.</a:t>
            </a:r>
            <a:br/>
            <a:r>
              <a:t>    URL: https://www.pearson.com/en-us/subject-catalog/p/petroleum-production-systems/P200000003290</a:t>
            </a:r>
          </a:p>
          <a:p>
            <a:pPr>
              <a:spcAft>
                <a:spcPts val="300"/>
              </a:spcAft>
              <a:defRPr sz="1050">
                <a:latin typeface="Arial"/>
              </a:defRPr>
            </a:pPr>
            <a:r>
              <a:t>[3] Golan, M. and Whitson, C. H. 'Well Performance', 2nd Edition, Prentice Hall, 1991.</a:t>
            </a:r>
            <a:br/>
            <a:r>
              <a:t>    URL: https://www.onepetro.org/books/SPE/Well-Performance</a:t>
            </a:r>
          </a:p>
          <a:p>
            <a:pPr>
              <a:spcAft>
                <a:spcPts val="300"/>
              </a:spcAft>
              <a:defRPr sz="1050">
                <a:latin typeface="Arial"/>
              </a:defRPr>
            </a:pPr>
            <a:r>
              <a:t>[4] Foss, B., Grimstad, B., Shakerian, M. and Sureshkumar, K. 'Control structure design for oil fields - a case study', Journal of Process Control, Vol. 68, pp. 112-124, 2018.</a:t>
            </a:r>
            <a:br/>
            <a:r>
              <a:t>    URL: https://doi.org/10.1016/j.jprocont.2018.05.006</a:t>
            </a:r>
          </a:p>
          <a:p>
            <a:pPr>
              <a:spcAft>
                <a:spcPts val="300"/>
              </a:spcAft>
              <a:defRPr sz="1050">
                <a:latin typeface="Arial"/>
              </a:defRPr>
            </a:pPr>
            <a:r>
              <a:t>[5] Shinskey, F. G. 'Process Control Systems: Application, Design, and Adjustment', McGraw-Hill, 1996.</a:t>
            </a:r>
            <a:br/>
            <a:r>
              <a:t>    URL: https://www.accessengineeringlibrary.com/content/book/9780070571013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d546e5e1-5d42-4630-bacd-c69bfdcbd5e8}" enabled="1" method="Standard" siteId="{96ece526-9c7d-48b0-8daf-8b93c90a5d1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7668</TotalTime>
  <Words>320</Words>
  <Application>Microsoft Office PowerPoint</Application>
  <PresentationFormat>Widescreen</PresentationFormat>
  <Paragraphs>60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ＭＳ Ｐゴシック</vt:lpstr>
      <vt:lpstr>Arial</vt:lpstr>
      <vt:lpstr>Calibri</vt:lpstr>
      <vt:lpstr>Times New Roman</vt:lpstr>
      <vt:lpstr>TradeGothic</vt:lpstr>
      <vt:lpstr>Office Theme</vt:lpstr>
      <vt:lpstr>PowerPoint Presentation</vt:lpstr>
      <vt:lpstr>PowerPoint Presentation</vt:lpstr>
      <vt:lpstr> IDEA TITLE</vt:lpstr>
      <vt:lpstr>TECHNICAL APPROACH</vt:lpstr>
      <vt:lpstr>FEASIBILITY AND VIABILITY</vt:lpstr>
      <vt:lpstr>ARTIFACTS</vt:lpstr>
      <vt:lpstr>RESEARCH  AND REFERENCES</vt:lpstr>
    </vt:vector>
  </TitlesOfParts>
  <Manager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Idea Template</dc:title>
  <dc:subject/>
  <cp:keywords/>
  <dc:description/>
  <cp:lastModifiedBy>Ramesh MV (HirePro)</cp:lastModifiedBy>
  <cp:revision>153</cp:revision>
  <dcterms:created xsi:type="dcterms:W3CDTF">2013-12-12T18:46:50Z</dcterms:created>
  <dcterms:modified xsi:type="dcterms:W3CDTF">2026-07-24T16:33:04Z</dcterms:modified>
  <cp:category/>
</cp:coreProperties>
</file>