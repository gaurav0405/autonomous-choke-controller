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3"/>
    <p:sldId id="281" r:id="rId4"/>
    <p:sldId id="290" r:id="rId5"/>
    <p:sldId id="293" r:id="rId6"/>
    <p:sldId id="299" r:id="rId7"/>
    <p:sldId id="296" r:id="rId8"/>
  </p:sldIdLst>
  <p:sldSz cx="12188952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CE727-C45C-A6F5-9EE5-AF363B2ADA27}"/>
              </a:ext>
            </a:extLst>
          </p:cNvPr>
          <p:cNvSpPr txBox="1"/>
          <p:nvPr/>
        </p:nvSpPr>
        <p:spPr>
          <a:xfrm>
            <a:off x="602343" y="1714078"/>
            <a:ext cx="10397765" cy="4073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portal.</a:t>
            </a:r>
            <a:endParaRPr lang="en-US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b="1" sz="2800">
                <a:solidFill>
                  <a:srgbClr val="1D4ED8"/>
                </a:solidFill>
                <a:latin typeface="Arial"/>
              </a:defRPr>
            </a:pPr>
            <a:r>
              <a:t>AUTONOMOUS CHOKE CONTROLLER FOR AN OIL WELL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4" y="1203454"/>
            <a:ext cx="592455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Problem Statement ID: SIH1747</a:t>
            </a:r>
            <a:endParaRPr lang="en-US" dirty="0"/>
          </a:p>
          <a:p>
            <a:pPr>
              <a:spcAft>
                <a:spcPts val="800"/>
              </a:spcAft>
              <a:defRPr b="1" sz="1800">
                <a:latin typeface="Arial"/>
              </a:defRPr>
            </a:pPr>
            <a:r>
              <a:t>Problem Statement Title: Autonomous Choke Control for a Single Naturally Flowing Oil Well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Theme: Smart Automation &amp; Energy Systems</a:t>
            </a:r>
          </a:p>
          <a:p>
            <a:pPr>
              <a:spcAft>
                <a:spcPts val="1600"/>
              </a:spcAft>
              <a:defRPr sz="1800">
                <a:latin typeface="Arial"/>
              </a:defRPr>
            </a:pPr>
            <a:r>
              <a:t>PS Category: Software / Algorithm</a:t>
            </a:r>
          </a:p>
          <a:p>
            <a:pPr>
              <a:spcAft>
                <a:spcPts val="800"/>
              </a:spcAft>
              <a:defRPr b="1" sz="1800">
                <a:latin typeface="Arial"/>
              </a:defRPr>
            </a:pPr>
            <a:r>
              <a:t>Student Name: Gaurav Jain (Registered on portal)</a:t>
            </a:r>
          </a:p>
          <a:p>
            <a:pPr>
              <a:defRPr b="1" sz="1800">
                <a:latin typeface="Arial"/>
              </a:defRPr>
            </a:pPr>
            <a:r>
              <a:t>Student ID: 23BAI10053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b="1">
                <a:solidFill>
                  <a:srgbClr val="1D4ED8"/>
                </a:solidFill>
              </a:defRPr>
            </a:pPr>
            <a:r>
              <a:t>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57200" y="1371600"/>
            <a:ext cx="548640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AI-Driven Autonomous Choke Control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Concept: Develops an Autonomous Production Choke Controller that automatically regulates choke opening (%) to track target production rates.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Safe Operating Envelope: Prevents violations of key pressure constraints: Wellhead Pressure (WHP &gt;= 220 psi), Flowline Pressure (FLP &gt;= 150 psi), and Bottom Hole Pressure (BHP &gt;= 2900 psi).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Control Algorithm: Implements Model Predictive Control (MPC) using a candidate-evaluation approach (brute-force evaluation of 101 candidates per step).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Long Horizon: Uses a 30-hour prediction horizon to anticipate slow BHP dynamics (tau ~ 13.5h), rejecting choke moves that cause future pressure violations.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Steady-State Optimality: If the target is infeasible, it automatically settles on the boundary of the safe operating envelope, maximizing safe production.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5363" name="Picture 15362" descr="open_loop_step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4ED8"/>
                </a:solidFill>
              </a:defRPr>
            </a:pPr>
            <a:r>
              <a:t>TECHNICAL APPROACH &amp; DYNAMIC MODEL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371600"/>
            <a:ext cx="548640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1800" b="1">
                <a:solidFill>
                  <a:srgbClr val="1E293B"/>
                </a:solidFill>
                <a:latin typeface="Arial"/>
              </a:defRPr>
            </a:pPr>
            <a:r>
              <a:t>System Modeling &amp; Optimization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• System Modeling: Process dynamics are identified as decoupled first-order Autoregressive with Exogenous input (ARX) models from open-loop step test data: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  - Oil Rate Q(t) = 0.8237*Q(t-1) + 0.3201*u(t-1) + 6.932 (Gain: +1.815 bbl/hr/%)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  - WHP(t) = 0.8892*WHP(t-1) - 0.1756*u(t-1) + 35.376 (Gain: -1.586 psi/%)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  - FLP(t) = 0.8625*FLP(t-1) - 0.1356*u(t-1) + 30.143 (Gain: -0.986 psi/%)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  - BHP(t) = 0.9257*BHP(t-1) - 0.6225*u(t-1) + 253.761 (Gain: -8.383 psi/%)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• Choke Constraints: Max ramp rate of +/- 5% choke opening per hour is strictly enforced by the candidate set boundaries.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• Cost Optimization: Evaluates 101 choke trajectories and optimizes tracking error while penalizing constraint violations by a factor of 1e6.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7411" name="Picture 17410" descr="scenario_a_star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4ED8"/>
                </a:solidFill>
              </a:defRPr>
            </a:pPr>
            <a:r>
              <a:t>FEASIBILITY, VIABILITY &amp; SAFETY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371600"/>
            <a:ext cx="548640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1">
                <a:solidFill>
                  <a:srgbClr val="1E293B"/>
                </a:solidFill>
                <a:latin typeface="Arial"/>
              </a:defRPr>
            </a:pPr>
            <a:r>
              <a:t>Safety Envelope &amp; Feasibility Analysis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Low Computational Cost: Evaluating 101 candidate trajectories takes &lt; 10 ms on standard industrial edge compute modules (e.g. Raspberry Pi, Siemens IOT2050, or DCS). No optimization solver library is required.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Process Safety Envelope: Safety constraints are verified over the prediction horizon Hp = 30h. Unsafe choke openings are blocked.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Process Noise Tolerance: Uses deterministic ARX equations for predictive models while successfully handling process noise (Q_sigma = 0.73, BHP_sigma = 2.91) in actual operations.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Economic Value: Maximizes production by safely tracking target rate, or backing off to maximum safe rate when targets are infeasible.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7411" name="Picture 17410" descr="scenario_b_trac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4ED8"/>
                </a:solidFill>
              </a:defRPr>
            </a:pPr>
            <a:r>
              <a:t>SIMULATION RESULTS &amp; 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71600"/>
            <a:ext cx="548640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1">
                <a:solidFill>
                  <a:srgbClr val="1E293B"/>
                </a:solidFill>
                <a:latin typeface="Arial"/>
              </a:defRPr>
            </a:pPr>
            <a:r>
              <a:t>Demonstrated Performance in Control Scenarios</a:t>
            </a:r>
          </a:p>
          <a:p>
            <a:pPr>
              <a:spcAft>
                <a:spcPts val="800"/>
              </a:spcAft>
              <a:defRPr sz="1200">
                <a:latin typeface="Arial"/>
              </a:defRPr>
            </a:pPr>
            <a:r>
              <a:t>• Scenario A (Startup to Target): Well moves smoothly from 90 bbl/hr (30% choke) to 120 bbl/hr. Choke ramps at max rate of 5%/hr, stabilizing with zero pressure violations.</a:t>
            </a:r>
          </a:p>
          <a:p>
            <a:pPr>
              <a:spcAft>
                <a:spcPts val="800"/>
              </a:spcAft>
              <a:defRPr sz="1200">
                <a:latin typeface="Arial"/>
              </a:defRPr>
            </a:pPr>
            <a:r>
              <a:t>• Scenario B (Target Tracking): Target steps from 100 to 150 bbl/hr. Controller adjusts choke to 60.9% and tracks the new rate smoothly. Pressures remain safe (min BHP = 2916.5 psi vs limit of 2900 psi).</a:t>
            </a:r>
          </a:p>
          <a:p>
            <a:pPr>
              <a:spcAft>
                <a:spcPts val="800"/>
              </a:spcAft>
              <a:defRPr sz="1200">
                <a:latin typeface="Arial"/>
              </a:defRPr>
            </a:pPr>
            <a:r>
              <a:t>• Scenario C (Infeasible Target): Target steps to 160 bbl/hr. The controller automatically restricts choke opening to 61.8% to maintain BHP &gt;= 2900 psi, settling at the maximum safe flow rate of 153.6 bbl/hr (with noise).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7411" name="Picture 17410" descr="scenario_c_infeasi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4ED8"/>
                </a:solidFill>
              </a:defRPr>
            </a:pPr>
            <a:r>
              <a:t>RESEARCH &amp;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371600"/>
            <a:ext cx="11274552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 b="1">
                <a:solidFill>
                  <a:srgbClr val="1E293B"/>
                </a:solidFill>
                <a:latin typeface="Arial"/>
              </a:defRPr>
            </a:pPr>
            <a:r>
              <a:t>Academic &amp; Industrial References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t>[1] Camacho, E. F. and Alba, C. B. 'Model Predictive Control', 2nd Edition, Springer-Verlag, 2013.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t>[2] Economides, M. J., Hill, A. D. and Ehlig-Economides, C. 'Petroleum Production Systems', Prentice Hall, 2012.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t>[3] Golan, M. and Whitson, C. H. 'Well Performance', 2nd Edition, Prentice Hall, 1991.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t>[4] Foss, B., Grimstad, B., Shakerian, M. and Sureshkumar, K. 'Control structure design for oil fields - a case study', Journal of Process Control, Vol. 68, pp. 112-124, 2018.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t>[5] Shinskey, F. G. 'Process Control Systems: Application, Design, and Adjustment', McGraw-Hill, 1996.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7668</TotalTime>
  <Words>320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Ramesh MV (HirePro)</cp:lastModifiedBy>
  <cp:revision>153</cp:revision>
  <dcterms:created xsi:type="dcterms:W3CDTF">2013-12-12T18:46:50Z</dcterms:created>
  <dcterms:modified xsi:type="dcterms:W3CDTF">2026-07-24T16:33:04Z</dcterms:modified>
  <cp:category/>
</cp:coreProperties>
</file>