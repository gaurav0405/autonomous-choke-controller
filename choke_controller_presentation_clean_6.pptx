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8" r:id="rId3"/>
    <p:sldId id="281" r:id="rId4"/>
    <p:sldId id="290" r:id="rId5"/>
    <p:sldId id="293" r:id="rId6"/>
    <p:sldId id="299" r:id="rId7"/>
    <p:sldId id="296" r:id="rId8"/>
  </p:sldIdLst>
  <p:sldSz cx="12188952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7CE727-C45C-A6F5-9EE5-AF363B2ADA27}"/>
              </a:ext>
            </a:extLst>
          </p:cNvPr>
          <p:cNvSpPr txBox="1"/>
          <p:nvPr/>
        </p:nvSpPr>
        <p:spPr>
          <a:xfrm>
            <a:off x="602343" y="1714078"/>
            <a:ext cx="10397765" cy="4073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portal.</a:t>
            </a:r>
            <a:endParaRPr lang="en-US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b="1" sz="2600">
                <a:solidFill>
                  <a:srgbClr val="1D4ED8"/>
                </a:solidFill>
                <a:latin typeface="Arial"/>
              </a:defRPr>
            </a:pPr>
            <a:r>
              <a:t>AUTONOMOUS CHOKE CONTROLLER FOR AN OIL WELL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397274" y="1203454"/>
            <a:ext cx="592455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 sz="1600">
                <a:latin typeface="Arial"/>
              </a:defRPr>
            </a:pPr>
            <a:r>
              <a:t>Problem Statement ID: SIH1747</a:t>
            </a:r>
            <a:endParaRPr lang="en-US" dirty="0"/>
          </a:p>
          <a:p>
            <a:pPr>
              <a:spcAft>
                <a:spcPts val="600"/>
              </a:spcAft>
              <a:defRPr b="1" sz="1600">
                <a:latin typeface="Arial"/>
              </a:defRPr>
            </a:pPr>
            <a:r>
              <a:t>Problem Statement Title: Autonomous Choke Control for a Single Naturally Flowing Oil Well</a:t>
            </a:r>
          </a:p>
          <a:p>
            <a:pPr>
              <a:spcAft>
                <a:spcPts val="600"/>
              </a:spcAft>
              <a:defRPr sz="1600">
                <a:latin typeface="Arial"/>
              </a:defRPr>
            </a:pPr>
            <a:r>
              <a:t>Theme: Smart Automation &amp; Energy Systems</a:t>
            </a:r>
          </a:p>
          <a:p>
            <a:pPr>
              <a:spcAft>
                <a:spcPts val="1400"/>
              </a:spcAft>
              <a:defRPr sz="1600">
                <a:latin typeface="Arial"/>
              </a:defRPr>
            </a:pPr>
            <a:r>
              <a:t>PS Category: Software / Algorithm</a:t>
            </a:r>
          </a:p>
          <a:p>
            <a:pPr>
              <a:spcAft>
                <a:spcPts val="600"/>
              </a:spcAft>
              <a:defRPr b="1" sz="1600">
                <a:latin typeface="Arial"/>
              </a:defRPr>
            </a:pPr>
            <a:r>
              <a:t>Student Name: Gaurav Jain (Registered on portal)</a:t>
            </a:r>
          </a:p>
          <a:p>
            <a:pPr>
              <a:defRPr b="1" sz="1600">
                <a:latin typeface="Arial"/>
              </a:defRPr>
            </a:pPr>
            <a:r>
              <a:t>Student ID: 23BAI10053</a:t>
            </a: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PROPOSED SOLUTION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12648" y="1371600"/>
            <a:ext cx="530352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E293B"/>
                </a:solidFill>
                <a:latin typeface="Arial"/>
              </a:defRPr>
            </a:pPr>
            <a:r>
              <a:t>AI-Driven Autonomous Choke Controller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• Autonomous Production Choke Controller: Regulates choke opening (%) to track target production rates while enforcing all operating envelope boundaries.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• Operating Envelope Constraints: Prevents violations of Wellhead Pressure (WHP &gt;= 220 psi), Flowline Pressure (FLP &gt;= 150 psi), and Bottom Hole Pressure (BHP &gt;= 2900 psi).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• Candidate Trajectory Evaluation: Implements Model Predictive Control (MPC) by evaluating 101 candidate choke movements at each 1-hour step.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• Rejection Diagnostics: Antigravity MPC logs exact candidate safety breakdowns (e.g. 'Evaluated: 101 | Safe: 51 | Rejected: 50') with physical rejection reasons.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• Safe Boundary Settlement: Automatically settles on the safe operating envelope boundary during infeasible setpoint targets (e.g. Target C = 200 bbl/hr -&gt; 151.7 bbl/hr).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5363" name="Picture 15362" descr="open_loop_step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577840" cy="39841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371600"/>
            <a:ext cx="530352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800"/>
              </a:spcAft>
              <a:buFont typeface="Arial" panose="020B0604020202020204" pitchFamily="34" charset="0"/>
              <a:buChar char="•"/>
              <a:defRPr sz="1700" b="1">
                <a:solidFill>
                  <a:srgbClr val="1E293B"/>
                </a:solidFill>
                <a:latin typeface="Arial"/>
              </a:defRPr>
            </a:pPr>
            <a:r>
              <a:t>ARX Dynamic Modeling &amp; Cost Formulation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• System Identification (ARX Models): Identifies first-order dynamic model gains and time constants from open-loop step test data: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  - Oil Rate (Q): Gain = +1.82 bbl/hr/% | Time Constant tau = 5.2h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  - Wellhead Pres (WHP): Gain = -1.59 psi/% | Time Constant tau = 8.5h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  - Flowline Pres (FLP): Gain = -0.99 psi/% | Time Constant tau = 6.8h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  - Bottom Hole Pres (BHP): Gain = -8.38 psi/% | Time Constant tau = 13.0h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• Ramp Rate Enforcement: Enforces maximum valve movement limit of +/- 5% choke opening per hour across prediction horizon (Hp = 30h).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• Multi-Objective Optimization: Minimizes tracking error while penalizing constraint violations by a factor of 1e6 and penalizing valve wear (lambda = 0.5).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7411" name="Picture 17410" descr="scenario_a_star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577840" cy="40904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371600"/>
            <a:ext cx="530352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 sz="1700" b="1">
                <a:solidFill>
                  <a:srgbClr val="1E293B"/>
                </a:solidFill>
                <a:latin typeface="Arial"/>
              </a:defRPr>
            </a:pPr>
            <a:r>
              <a:t>Safety Envelope &amp; Infeasible Target Analysis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• Edge Computational Efficiency: Candidate trajectory search executes in &lt; 2 ms in Python and JavaScript on edge microcontrollers or DCS.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• 3-State Industrial Alarm Annunciator: Visual 3-state alert panel indicating Normal (🟢), Constraint Active (🟠), and Envelope Violation (🔴).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• Process Noise Resilience: Handles Gaussian noise (Q_sigma = 0.73, BHP_sigma = 2.91) while strictly maintaining safety envelope margins.</a:t>
            </a:r>
          </a:p>
          <a:p>
            <a:pPr>
              <a:spcAft>
                <a:spcPts val="500"/>
              </a:spcAft>
              <a:defRPr sz="1100">
                <a:latin typeface="Arial"/>
              </a:defRPr>
            </a:pPr>
            <a:r>
              <a:t>• Infeasible Target Safety Handling: Scenario C demonstrates automatic choke capping at 61.9% to maintain BHP &gt;= 2900 psi limit, settling at maximum safe production of 151.7 bbl/hr.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7411" name="Picture 17410" descr="scenario_c_infeasi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577840" cy="409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ARTIFACTS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648" y="1280160"/>
            <a:ext cx="502920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1">
                <a:solidFill>
                  <a:srgbClr val="1E293B"/>
                </a:solidFill>
                <a:latin typeface="Arial"/>
              </a:defRPr>
            </a:pPr>
            <a:r>
              <a:t>Control Scenarios &amp; Live Web Operator Dashboard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t>• True Black Theme UI: Modern industrial DCS aesthetics with high contrast and glassmorphism styling.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t>• Animated Subsurface Schematic: Real-time SVG wellhead &amp; subsurface reservoir rendering with ascending oil bubbles.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t>• Live Chart.js Trendlines: Real-time flow rates, choke opening, WHP, FLP, and BHP dynamic graphs.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t>• 3-State Alarm Annunciator: Visual alert panel with Normal (🟢), Constraint Active (🟠), and Violation (🔴) states.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t>• Decision Log Terminal: Real-time decision output showing candidate safety evaluations and rejection reasons.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t>• Project Deliverables: Python controller scripts, config.json, offline Chart.js web app, presentation deck, and CSV output logs.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7411" name="Picture 17410" descr="dashboard_screenshot_format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188720"/>
            <a:ext cx="5760720" cy="472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371600"/>
            <a:ext cx="1097280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1">
                <a:solidFill>
                  <a:srgbClr val="1E293B"/>
                </a:solidFill>
                <a:latin typeface="Arial"/>
              </a:defRPr>
            </a:pPr>
            <a:r>
              <a:t>Academic &amp; Industrial References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t>[1] Camacho, E. F. and Alba, C. B. 'Model Predictive Control', 2nd Edition, Springer-Verlag, 2013.</a:t>
            </a:r>
            <a:br/>
            <a:r>
              <a:t>    URL: https://link.springer.com/book/10.1007/978-3-642-18189-4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t>[2] Economides, M. J., Hill, A. D. and Ehlig-Economides, C. 'Petroleum Production Systems', Prentice Hall, 2012.</a:t>
            </a:r>
            <a:br/>
            <a:r>
              <a:t>    URL: https://www.pearson.com/en-us/subject-catalog/p/petroleum-production-systems/P200000003290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t>[3] Golan, M. and Whitson, C. H. 'Well Performance', 2nd Edition, Prentice Hall, 1991.</a:t>
            </a:r>
            <a:br/>
            <a:r>
              <a:t>    URL: https://www.onepetro.org/books/SPE/Well-Performance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t>[4] Foss, B., Grimstad, B., Shakerian, M. and Sureshkumar, K. 'Control structure design for oil fields - a case study', Journal of Process Control, Vol. 68, pp. 112-124, 2018.</a:t>
            </a:r>
            <a:br/>
            <a:r>
              <a:t>    URL: https://doi.org/10.1016/j.jprocont.2018.05.006</a:t>
            </a:r>
          </a:p>
          <a:p>
            <a:pPr>
              <a:spcAft>
                <a:spcPts val="500"/>
              </a:spcAft>
              <a:defRPr sz="1050">
                <a:latin typeface="Arial"/>
              </a:defRPr>
            </a:pPr>
            <a:r>
              <a:t>[5] Shinskey, F. G. 'Process Control Systems: Application, Design, and Adjustment', McGraw-Hill, 1996.</a:t>
            </a:r>
            <a:br/>
            <a:r>
              <a:t>    URL: https://www.accessengineeringlibrary.com/content/book/9780070571013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7668</TotalTime>
  <Words>320</Words>
  <Application>Microsoft Office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PowerPoint Presentation</vt:lpstr>
      <vt:lpstr> IDEA TITLE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Ramesh MV (HirePro)</cp:lastModifiedBy>
  <cp:revision>153</cp:revision>
  <dcterms:created xsi:type="dcterms:W3CDTF">2013-12-12T18:46:50Z</dcterms:created>
  <dcterms:modified xsi:type="dcterms:W3CDTF">2026-07-24T16:33:04Z</dcterms:modified>
  <cp:category/>
</cp:coreProperties>
</file>