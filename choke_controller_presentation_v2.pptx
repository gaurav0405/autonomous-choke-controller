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8" r:id="rId2"/>
    <p:sldId id="281" r:id="rId3"/>
    <p:sldId id="290" r:id="rId4"/>
    <p:sldId id="293" r:id="rId5"/>
    <p:sldId id="299" r:id="rId6"/>
    <p:sldId id="296" r:id="rId7"/>
  </p:sldIdLst>
  <p:sldSz cx="12188825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408" y="49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7/25/2026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9F277-D966-5891-8E8E-FE1852E6B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63166A99-EAE2-2E28-993F-D5871297B2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4ED88F3D-7791-59C8-716F-0AAD4C669A9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CC82298B-112C-33CB-5F98-D6F1C4A4C6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30513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7/25/2026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7/25/2026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7/25/2026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A033A5-F70E-7E73-0B8C-FA62C08DE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99EC04-BCF1-5A69-7D5A-95D43C976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Subtitle 3">
            <a:extLst>
              <a:ext uri="{FF2B5EF4-FFF2-40B4-BE49-F238E27FC236}">
                <a16:creationId xmlns:a16="http://schemas.microsoft.com/office/drawing/2014/main" id="{E0A8E5C6-6BFC-01E5-DDF5-B6A7738A64F4}"/>
              </a:ext>
            </a:extLst>
          </p:cNvPr>
          <p:cNvSpPr txBox="1">
            <a:spLocks/>
          </p:cNvSpPr>
          <p:nvPr/>
        </p:nvSpPr>
        <p:spPr bwMode="auto">
          <a:xfrm>
            <a:off x="1415369" y="-365784"/>
            <a:ext cx="8534400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marL="4572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2pPr>
            <a:lvl3pPr marL="9144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3pPr>
            <a:lvl4pPr marL="13716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4pPr>
            <a:lvl5pPr marL="18288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2800" b="1">
                <a:solidFill>
                  <a:srgbClr val="1D4ED8"/>
                </a:solidFill>
                <a:latin typeface="Arial"/>
              </a:defRPr>
            </a:pPr>
            <a:endParaRPr lang="en-US"/>
          </a:p>
          <a:p>
            <a:pPr>
              <a:defRPr sz="2800" b="1">
                <a:solidFill>
                  <a:srgbClr val="1D4ED8"/>
                </a:solidFill>
                <a:latin typeface="Arial"/>
              </a:defRPr>
            </a:pPr>
            <a:r>
              <a:t>AUTONOMOUS CHOKE CONTROLLER FOR AN OIL WELL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B1BDE7-2DA0-F526-CF6E-F50D43C2C5FE}"/>
              </a:ext>
            </a:extLst>
          </p:cNvPr>
          <p:cNvSpPr txBox="1"/>
          <p:nvPr/>
        </p:nvSpPr>
        <p:spPr>
          <a:xfrm>
            <a:off x="397274" y="1203454"/>
            <a:ext cx="5924550" cy="46866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Problem Statement ID: SIH1747</a:t>
            </a:r>
            <a:endParaRPr lang="en-US" dirty="0"/>
          </a:p>
          <a:p>
            <a:pPr>
              <a:spcAft>
                <a:spcPts val="800"/>
              </a:spcAft>
              <a:defRPr sz="1800" b="1">
                <a:latin typeface="Arial"/>
              </a:defRPr>
            </a:pPr>
            <a:r>
              <a:t>Problem Statement Title: Autonomous Choke Control for a Single Naturally Flowing Oil Well</a:t>
            </a:r>
          </a:p>
          <a:p>
            <a:pPr>
              <a:spcAft>
                <a:spcPts val="800"/>
              </a:spcAft>
              <a:defRPr sz="1800">
                <a:latin typeface="Arial"/>
              </a:defRPr>
            </a:pPr>
            <a:r>
              <a:t>Theme: Smart Automation &amp; Energy Systems</a:t>
            </a:r>
          </a:p>
          <a:p>
            <a:pPr>
              <a:spcAft>
                <a:spcPts val="1600"/>
              </a:spcAft>
              <a:defRPr sz="1800">
                <a:latin typeface="Arial"/>
              </a:defRPr>
            </a:pPr>
            <a:r>
              <a:t>PS Category: Software / Algorithm</a:t>
            </a:r>
          </a:p>
          <a:p>
            <a:pPr>
              <a:spcAft>
                <a:spcPts val="800"/>
              </a:spcAft>
              <a:defRPr sz="1800" b="1">
                <a:latin typeface="Arial"/>
              </a:defRPr>
            </a:pPr>
            <a:r>
              <a:t>Student Name: Gaurav Jain (Registered on portal)</a:t>
            </a:r>
          </a:p>
          <a:p>
            <a:pPr>
              <a:defRPr sz="1800" b="1">
                <a:latin typeface="Arial"/>
              </a:defRPr>
            </a:pPr>
            <a:r>
              <a:t>Student ID: 23BAI10053</a:t>
            </a:r>
          </a:p>
        </p:txBody>
      </p:sp>
    </p:spTree>
    <p:extLst>
      <p:ext uri="{BB962C8B-B14F-4D97-AF65-F5344CB8AC3E}">
        <p14:creationId xmlns:p14="http://schemas.microsoft.com/office/powerpoint/2010/main" val="33198847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>
              <a:defRPr b="1">
                <a:solidFill>
                  <a:srgbClr val="1D4ED8"/>
                </a:solidFill>
              </a:defRPr>
            </a:pPr>
            <a:r>
              <a:t>PROPOSED SOLUTION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457200" y="1371600"/>
            <a:ext cx="5486400" cy="47548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1E293B"/>
                </a:solidFill>
                <a:latin typeface="Arial"/>
              </a:defRPr>
            </a:pPr>
            <a:r>
              <a:t>AI-Driven Autonomous Choke Control</a:t>
            </a:r>
            <a:endParaRPr lang="en-US" sz="3200" u="sng" dirty="0">
              <a:latin typeface="Arial" pitchFamily="34" charset="0"/>
              <a:cs typeface="Arial" pitchFamily="34" charset="0"/>
            </a:endParaRPr>
          </a:p>
          <a:p>
            <a:pPr>
              <a:spcAft>
                <a:spcPts val="800"/>
              </a:spcAft>
              <a:defRPr sz="1250">
                <a:latin typeface="Arial"/>
              </a:defRPr>
            </a:pPr>
            <a:r>
              <a:t>• Concept: Develops an Autonomous Production Choke Controller that automatically regulates choke opening (%) to track target production rates.</a:t>
            </a:r>
          </a:p>
          <a:p>
            <a:pPr>
              <a:spcAft>
                <a:spcPts val="800"/>
              </a:spcAft>
              <a:defRPr sz="1250">
                <a:latin typeface="Arial"/>
              </a:defRPr>
            </a:pPr>
            <a:r>
              <a:t>• Safe Operating Envelope: Prevents violations of key pressure constraints: Wellhead Pressure (WHP &gt;= 220 psi), Flowline Pressure (FLP &gt;= 150 psi), and Bottom Hole Pressure (BHP &gt;= 2900 psi).</a:t>
            </a:r>
          </a:p>
          <a:p>
            <a:pPr>
              <a:spcAft>
                <a:spcPts val="800"/>
              </a:spcAft>
              <a:defRPr sz="1250">
                <a:latin typeface="Arial"/>
              </a:defRPr>
            </a:pPr>
            <a:r>
              <a:t>• Control Algorithm: Implements Model Predictive Control (MPC) using a candidate-evaluation approach (brute-force evaluation of 101 candidates per step).</a:t>
            </a:r>
          </a:p>
          <a:p>
            <a:pPr>
              <a:spcAft>
                <a:spcPts val="800"/>
              </a:spcAft>
              <a:defRPr sz="1250">
                <a:latin typeface="Arial"/>
              </a:defRPr>
            </a:pPr>
            <a:r>
              <a:t>• Long Horizon: Uses a 30-hour prediction horizon to anticipate slow BHP dynamics (tau ~ 13.5h), rejecting choke moves that cause future pressure violations.</a:t>
            </a:r>
          </a:p>
          <a:p>
            <a:pPr>
              <a:spcAft>
                <a:spcPts val="800"/>
              </a:spcAft>
              <a:defRPr sz="1250">
                <a:latin typeface="Arial"/>
              </a:defRPr>
            </a:pPr>
            <a:r>
              <a:t>• Steady-State Optimality: If the target is infeasible, it automatically settles on the boundary of the safe operating envelope, maximizing safe production.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5363" name="Picture 15362" descr="open_loop_step_t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48640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D4ED8"/>
                </a:solidFill>
              </a:defRPr>
            </a:pPr>
            <a:r>
              <a:t>TECHNICAL APPROACH &amp; DYNAMIC MODEL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457200" y="1371600"/>
            <a:ext cx="5486400" cy="47548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spcAft>
                <a:spcPts val="1200"/>
              </a:spcAft>
              <a:buFont typeface="Arial" panose="020B0604020202020204" pitchFamily="34" charset="0"/>
              <a:buChar char="•"/>
              <a:defRPr sz="1800" b="1">
                <a:solidFill>
                  <a:srgbClr val="1E293B"/>
                </a:solidFill>
                <a:latin typeface="Arial"/>
              </a:defRPr>
            </a:pPr>
            <a:r>
              <a:t>System Modeling &amp; Optimization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t>• System Modeling: Process dynamics are identified as decoupled first-order Autoregressive with Exogenous input (ARX) models from open-loop step test data: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t>  - Oil Rate Q(t) = 0.8237*Q(t-1) + 0.3201*u(t-1) + 6.932 (Gain: +1.815 bbl/hr/%)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t>  - WHP(t) = 0.8892*WHP(t-1) - 0.1756*u(t-1) + 35.376 (Gain: -1.586 psi/%)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t>  - FLP(t) = 0.8625*FLP(t-1) - 0.1356*u(t-1) + 30.143 (Gain: -0.986 psi/%)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t>  - BHP(t) = 0.9257*BHP(t-1) - 0.6225*u(t-1) + 253.761 (Gain: -8.383 psi/%)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t>• Choke Constraints: Max ramp rate of +/- 5% choke opening per hour is strictly enforced by the candidate set boundaries.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t>• Cost Optimization: Evaluates 101 choke trajectories and optimizes tracking error while penalizing constraint violations by a factor of 1e6.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7411" name="Picture 17410" descr="scenario_a_start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48640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D4ED8"/>
                </a:solidFill>
              </a:defRPr>
            </a:pPr>
            <a:r>
              <a:t>FEASIBILITY, VIABILITY &amp; SAFETY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457200" y="1371600"/>
            <a:ext cx="5486400" cy="47548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 sz="1800" b="1">
                <a:solidFill>
                  <a:srgbClr val="1E293B"/>
                </a:solidFill>
                <a:latin typeface="Arial"/>
              </a:defRPr>
            </a:pPr>
            <a:r>
              <a:t>Safety Envelope &amp; Feasibility Analysis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spcAft>
                <a:spcPts val="800"/>
              </a:spcAft>
              <a:defRPr sz="1250">
                <a:latin typeface="Arial"/>
              </a:defRPr>
            </a:pPr>
            <a:r>
              <a:t>• Low Computational Cost: Evaluating 101 candidate trajectories takes &lt; 10 ms on standard industrial edge compute modules (e.g. Raspberry Pi, Siemens IOT2050, or DCS). No optimization solver library is required.</a:t>
            </a:r>
          </a:p>
          <a:p>
            <a:pPr>
              <a:spcAft>
                <a:spcPts val="800"/>
              </a:spcAft>
              <a:defRPr sz="1250">
                <a:latin typeface="Arial"/>
              </a:defRPr>
            </a:pPr>
            <a:r>
              <a:t>• Process Safety Envelope: Safety constraints are verified over the prediction horizon Hp = 30h. Unsafe choke openings are blocked.</a:t>
            </a:r>
          </a:p>
          <a:p>
            <a:pPr>
              <a:spcAft>
                <a:spcPts val="800"/>
              </a:spcAft>
              <a:defRPr sz="1250">
                <a:latin typeface="Arial"/>
              </a:defRPr>
            </a:pPr>
            <a:r>
              <a:t>• Process Noise Tolerance: Uses deterministic ARX equations for predictive models while successfully handling process noise (Q_sigma = 0.73, BHP_sigma = 2.91) in actual operations.</a:t>
            </a:r>
          </a:p>
          <a:p>
            <a:pPr>
              <a:spcAft>
                <a:spcPts val="800"/>
              </a:spcAft>
              <a:defRPr sz="1250">
                <a:latin typeface="Arial"/>
              </a:defRPr>
            </a:pPr>
            <a:r>
              <a:t>• Economic Value: Maximizes production by safely tracking target rate, or backing off to maximum safe rate when targets are infeasible.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7411" name="Picture 17410" descr="scenario_b_track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486400" cy="4389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09052-50AE-B3C2-6A1C-5CFF37D94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>
            <a:extLst>
              <a:ext uri="{FF2B5EF4-FFF2-40B4-BE49-F238E27FC236}">
                <a16:creationId xmlns:a16="http://schemas.microsoft.com/office/drawing/2014/main" id="{5E03BF1A-7989-5C44-934B-D93E14918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D4ED8"/>
                </a:solidFill>
              </a:defRPr>
            </a:pPr>
            <a:r>
              <a:t>SIMULATION RESULTS &amp; ARTIFACTS</a:t>
            </a:r>
          </a:p>
        </p:txBody>
      </p:sp>
      <p:sp>
        <p:nvSpPr>
          <p:cNvPr id="17410" name="TextBox 8">
            <a:extLst>
              <a:ext uri="{FF2B5EF4-FFF2-40B4-BE49-F238E27FC236}">
                <a16:creationId xmlns:a16="http://schemas.microsoft.com/office/drawing/2014/main" id="{DD0C6F84-D6ED-416D-7179-055149D83F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371600"/>
            <a:ext cx="5486400" cy="47548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 sz="1800" b="1">
                <a:solidFill>
                  <a:srgbClr val="1E293B"/>
                </a:solidFill>
                <a:latin typeface="Arial"/>
              </a:defRPr>
            </a:pPr>
            <a:r>
              <a:t>Demonstrated Performance in Control Scenarios</a:t>
            </a:r>
          </a:p>
          <a:p>
            <a:pPr>
              <a:spcAft>
                <a:spcPts val="800"/>
              </a:spcAft>
              <a:defRPr sz="1050">
                <a:latin typeface="Arial"/>
              </a:defRPr>
            </a:pPr>
            <a:r>
              <a:t>• Scenario A (Startup): Ramps choke at max 5%/hr, smoothly reaching 120 bbl/hr target with zero violations.</a:t>
            </a:r>
          </a:p>
          <a:p>
            <a:pPr>
              <a:spcAft>
                <a:spcPts val="800"/>
              </a:spcAft>
              <a:defRPr sz="1050">
                <a:latin typeface="Arial"/>
              </a:defRPr>
            </a:pPr>
            <a:r>
              <a:t>• Scenario B (Tracking): Setpoint steps to 150 bbl/hr. Controller regulates choke to 60.9% and tracks rate smoothly. Pressures remain safe (BHP = 2931 psi).</a:t>
            </a:r>
          </a:p>
          <a:p>
            <a:pPr>
              <a:spcAft>
                <a:spcPts val="800"/>
              </a:spcAft>
              <a:defRPr sz="1050">
                <a:latin typeface="Arial"/>
              </a:defRPr>
            </a:pPr>
            <a:r>
              <a:t>• Scenario C (Infeasible Target = 200 bbl/hr): Caps choke opening at 61.9% to maintain BHP &gt;= 2900 psi limit, settling at maximum safe flow rate of 151.7 bbl/hr.</a:t>
            </a:r>
          </a:p>
          <a:p>
            <a:pPr>
              <a:spcAft>
                <a:spcPts val="800"/>
              </a:spcAft>
              <a:defRPr sz="1050">
                <a:latin typeface="Arial"/>
              </a:defRPr>
            </a:pPr>
            <a:r>
              <a:t>• Candidate Search Logging: Logs 101 candidate evaluations per hour showing Safe vs. Rejected moves (e.g., 'Evaluated: 101 | Safe: 51 | Rejected: 50') with physical rejection reasons.</a:t>
            </a:r>
          </a:p>
          <a:p>
            <a:pPr>
              <a:spcAft>
                <a:spcPts val="800"/>
              </a:spcAft>
              <a:defRPr sz="1050">
                <a:latin typeface="Arial"/>
              </a:defRPr>
            </a:pPr>
            <a:r>
              <a:t>• Summary Analytics: Terminal prints a clear summary block detailing requested rate (200 bbl/hr), maximum safe production (151.7 bbl/hr), active limits (BHP, WHP), and safe boundary settlement.</a:t>
            </a:r>
          </a:p>
          <a:p>
            <a:pPr>
              <a:spcAft>
                <a:spcPts val="800"/>
              </a:spcAft>
              <a:defRPr sz="1050">
                <a:latin typeface="Arial"/>
              </a:defRPr>
            </a:pPr>
            <a:r>
              <a:t>• DCS Streamlit Dashboard: Operates as a live operator screen supporting custom setpoints, horizon adjustments, constraint limits, and real-time trend plots.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B14AAA-63FC-5F17-FE74-5405495A1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4C6332B-BBD9-799D-50C5-6A19BC85E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7411" name="Picture 17410" descr="scenario_c_infeasi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486400" cy="4389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4478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1D4ED8"/>
                </a:solidFill>
              </a:defRPr>
            </a:pPr>
            <a:r>
              <a:t>RESEARCH &amp;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457200" y="1371600"/>
            <a:ext cx="11274552" cy="47548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 sz="2000" b="1">
                <a:solidFill>
                  <a:srgbClr val="1E293B"/>
                </a:solidFill>
                <a:latin typeface="Arial"/>
              </a:defRPr>
            </a:pPr>
            <a:r>
              <a:t>Academic &amp; Industrial References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t>[1] Camacho, E. F. and Alba, C. B. 'Model Predictive Control', 2nd Edition, Springer-Verlag, 2013.</a:t>
            </a:r>
            <a:br/>
            <a:r>
              <a:t>    URL: https://link.springer.com/book/10.1007/978-3-642-18189-4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t>[2] Economides, M. J., Hill, A. D. and Ehlig-Economides, C. 'Petroleum Production Systems', Prentice Hall, 2012.</a:t>
            </a:r>
            <a:br/>
            <a:r>
              <a:t>    URL: https://www.pearson.com/en-us/subject-catalog/p/petroleum-production-systems/P200000003290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t>[3] Golan, M. and Whitson, C. H. 'Well Performance', 2nd Edition, Prentice Hall, 1991.</a:t>
            </a:r>
            <a:br/>
            <a:r>
              <a:t>    URL: https://www.onepetro.org/books/SPE/Well-Performance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t>[4] Foss, B., Grimstad, B., Shakerian, M. and Sureshkumar, K. 'Control structure design for oil fields - a case study', Journal of Process Control, Vol. 68, pp. 112-124, 2018.</a:t>
            </a:r>
            <a:br/>
            <a:r>
              <a:t>    URL: https://doi.org/10.1016/j.jprocont.2018.05.006</a:t>
            </a:r>
          </a:p>
          <a:p>
            <a:pPr>
              <a:spcAft>
                <a:spcPts val="800"/>
              </a:spcAft>
              <a:defRPr sz="1100">
                <a:latin typeface="Arial"/>
              </a:defRPr>
            </a:pPr>
            <a:r>
              <a:t>[5] Shinskey, F. G. 'Process Control Systems: Application, Design, and Adjustment', McGraw-Hill, 1996.</a:t>
            </a:r>
            <a:br/>
            <a:r>
              <a:t>    URL: https://www.accessengineeringlibrary.com/content/book/9780070571013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d546e5e1-5d42-4630-bacd-c69bfdcbd5e8}" enabled="1" method="Standard" siteId="{96ece526-9c7d-48b0-8daf-8b93c90a5d18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7668</TotalTime>
  <Words>1024</Words>
  <Application>Microsoft Office PowerPoint</Application>
  <PresentationFormat>Custom</PresentationFormat>
  <Paragraphs>62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ＭＳ Ｐゴシック</vt:lpstr>
      <vt:lpstr>Arial</vt:lpstr>
      <vt:lpstr>Calibri</vt:lpstr>
      <vt:lpstr>Times New Roman</vt:lpstr>
      <vt:lpstr>TradeGothic</vt:lpstr>
      <vt:lpstr>Office Theme</vt:lpstr>
      <vt:lpstr>PowerPoint Presentation</vt:lpstr>
      <vt:lpstr>PROPOSED SOLUTION</vt:lpstr>
      <vt:lpstr>TECHNICAL APPROACH &amp; DYNAMIC MODEL</vt:lpstr>
      <vt:lpstr>FEASIBILITY, VIABILITY &amp; SAFETY</vt:lpstr>
      <vt:lpstr>SIMULATION RESULTS &amp; ARTIFACTS</vt:lpstr>
      <vt:lpstr>RESEARCH &amp; REFERENCES</vt:lpstr>
    </vt:vector>
  </TitlesOfParts>
  <Manager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Idea Template</dc:title>
  <dc:subject/>
  <cp:keywords/>
  <dc:description/>
  <cp:lastModifiedBy>Gaurav Jain</cp:lastModifiedBy>
  <cp:revision>154</cp:revision>
  <dcterms:created xsi:type="dcterms:W3CDTF">2013-12-12T18:46:50Z</dcterms:created>
  <dcterms:modified xsi:type="dcterms:W3CDTF">2026-07-24T22:06:33Z</dcterms:modified>
  <cp:category/>
</cp:coreProperties>
</file>